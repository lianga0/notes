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70" r:id="rId10"/>
    <p:sldId id="272" r:id="rId11"/>
    <p:sldId id="273" r:id="rId12"/>
    <p:sldId id="271" r:id="rId13"/>
    <p:sldId id="265" r:id="rId14"/>
    <p:sldId id="268" r:id="rId15"/>
    <p:sldId id="266" r:id="rId16"/>
    <p:sldId id="267" r:id="rId17"/>
    <p:sldId id="269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F48D7-B4F1-470B-9B99-7BA06D4F0C8E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2B5E1-7CFD-4DEA-A37D-3ECE3D30D6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</a:t>
            </a:r>
            <a:r>
              <a:rPr lang="en-US" altLang="zh-CN" dirty="0" smtClean="0"/>
              <a:t>learn.microsoft.com/en-us/windows/win32/api/winnt/ns-winnt-image_optional_header32</a:t>
            </a:r>
            <a:br>
              <a:rPr lang="en-US" altLang="zh-CN" dirty="0" smtClean="0"/>
            </a:br>
            <a:r>
              <a:rPr lang="en-US" altLang="zh-CN" dirty="0" smtClean="0"/>
              <a:t>https://learn.microsoft.com/en-us/windows/win32/debug/pe-format#optional-header-data-directories-image-only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2B5E1-7CFD-4DEA-A37D-3ECE3D30D6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7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https://blog.csdn.net/qq_43603988/article/details/103726077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2B5E1-7CFD-4DEA-A37D-3ECE3D30D63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63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31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59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3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28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95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85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60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3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61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79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268C1-BA0F-4CBF-8D12-D4479482AFF6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1F56B-9482-4F7C-9E6B-96D69426E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72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Authenticode_PE.doc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18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8600" y="205714"/>
            <a:ext cx="11633199" cy="11937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744134" y="205715"/>
            <a:ext cx="1278466" cy="74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DOS MZ</a:t>
            </a:r>
            <a:r>
              <a:rPr lang="zh-CN" altLang="en-US" dirty="0"/>
              <a:t>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44134" y="953297"/>
            <a:ext cx="1278466" cy="446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DOS stub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8601" y="245534"/>
            <a:ext cx="13292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DOS</a:t>
            </a:r>
            <a:r>
              <a:rPr lang="zh-CN" altLang="en-US" dirty="0" smtClean="0"/>
              <a:t>文件头</a:t>
            </a:r>
            <a:endParaRPr lang="en-US" altLang="zh-CN" dirty="0" smtClean="0"/>
          </a:p>
          <a:p>
            <a:r>
              <a:rPr lang="en-US" altLang="zh-CN" sz="800" dirty="0" smtClean="0"/>
              <a:t>DOS</a:t>
            </a:r>
            <a:r>
              <a:rPr lang="zh-CN" altLang="en-US" sz="800" dirty="0" smtClean="0"/>
              <a:t>头</a:t>
            </a:r>
            <a:endParaRPr lang="en-US" altLang="zh-CN" sz="800" dirty="0" smtClean="0"/>
          </a:p>
          <a:p>
            <a:r>
              <a:rPr lang="en-US" altLang="zh-CN" sz="800" dirty="0" smtClean="0"/>
              <a:t>DOS</a:t>
            </a:r>
            <a:r>
              <a:rPr lang="zh-CN" altLang="en-US" sz="800" dirty="0" smtClean="0"/>
              <a:t>首部</a:t>
            </a:r>
            <a:endParaRPr lang="en-US" altLang="zh-CN" sz="800" dirty="0" smtClean="0"/>
          </a:p>
          <a:p>
            <a:endParaRPr lang="zh-CN" altLang="en-US" sz="800" dirty="0"/>
          </a:p>
        </p:txBody>
      </p:sp>
      <p:sp>
        <p:nvSpPr>
          <p:cNvPr id="6" name="矩形 5"/>
          <p:cNvSpPr/>
          <p:nvPr/>
        </p:nvSpPr>
        <p:spPr>
          <a:xfrm>
            <a:off x="3022600" y="215215"/>
            <a:ext cx="3615267" cy="732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IMAGE_DOS_HEADER_STRUCT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28601" y="1405466"/>
            <a:ext cx="11633198" cy="4004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8601" y="1473201"/>
            <a:ext cx="11192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PE</a:t>
            </a:r>
            <a:r>
              <a:rPr lang="zh-CN" altLang="en-US" dirty="0" smtClean="0"/>
              <a:t>文件头</a:t>
            </a:r>
            <a:endParaRPr lang="en-US" altLang="zh-CN" dirty="0" smtClean="0"/>
          </a:p>
          <a:p>
            <a:r>
              <a:rPr lang="en-US" altLang="zh-CN" sz="800" dirty="0" smtClean="0"/>
              <a:t>PE</a:t>
            </a:r>
            <a:r>
              <a:rPr lang="zh-CN" altLang="en-US" sz="800" dirty="0" smtClean="0"/>
              <a:t>头</a:t>
            </a:r>
            <a:endParaRPr lang="en-US" altLang="zh-CN" sz="800" dirty="0" smtClean="0"/>
          </a:p>
          <a:p>
            <a:endParaRPr lang="zh-CN" altLang="en-US" sz="800" dirty="0"/>
          </a:p>
        </p:txBody>
      </p:sp>
      <p:sp>
        <p:nvSpPr>
          <p:cNvPr id="9" name="矩形 8"/>
          <p:cNvSpPr/>
          <p:nvPr/>
        </p:nvSpPr>
        <p:spPr>
          <a:xfrm>
            <a:off x="1744134" y="1409013"/>
            <a:ext cx="2656916" cy="2688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IMAGE_NT_HEADERS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414557" y="1399513"/>
            <a:ext cx="300405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DWORD PE </a:t>
            </a:r>
            <a:r>
              <a:rPr lang="en-US" altLang="zh-CN" dirty="0" smtClean="0"/>
              <a:t>Signature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415365" y="1811865"/>
            <a:ext cx="3003244" cy="931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IMAGE_FILE_HEADER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414557" y="2743200"/>
            <a:ext cx="3004052" cy="1354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IMAGE_OPTIONAL_HEADER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637867" y="215215"/>
            <a:ext cx="3615267" cy="732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 smtClean="0"/>
              <a:t>WORD </a:t>
            </a:r>
            <a:r>
              <a:rPr lang="en-US" altLang="zh-CN" sz="1600" dirty="0" err="1" smtClean="0"/>
              <a:t>e_magic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smtClean="0"/>
              <a:t>…</a:t>
            </a:r>
            <a:br>
              <a:rPr lang="en-US" altLang="zh-CN" sz="1600" dirty="0" smtClean="0"/>
            </a:br>
            <a:r>
              <a:rPr lang="en-US" altLang="zh-CN" sz="1600" dirty="0" smtClean="0"/>
              <a:t>DWOR </a:t>
            </a:r>
            <a:r>
              <a:rPr lang="en-US" altLang="zh-CN" sz="1600" dirty="0" err="1" smtClean="0"/>
              <a:t>e_lfanew</a:t>
            </a:r>
            <a:r>
              <a:rPr lang="en-US" altLang="zh-CN" sz="1600" dirty="0" smtClean="0"/>
              <a:t> </a:t>
            </a:r>
            <a:endParaRPr lang="zh-CN" altLang="en-US" sz="1600" dirty="0"/>
          </a:p>
        </p:txBody>
      </p:sp>
      <p:sp>
        <p:nvSpPr>
          <p:cNvPr id="25" name="矩形 24"/>
          <p:cNvSpPr/>
          <p:nvPr/>
        </p:nvSpPr>
        <p:spPr>
          <a:xfrm>
            <a:off x="7432115" y="1805913"/>
            <a:ext cx="4429683" cy="931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50" dirty="0" smtClean="0"/>
              <a:t>...</a:t>
            </a:r>
          </a:p>
          <a:p>
            <a:r>
              <a:rPr lang="en-US" altLang="zh-CN" sz="1050" dirty="0" smtClean="0"/>
              <a:t>WORD </a:t>
            </a:r>
            <a:r>
              <a:rPr lang="en-US" altLang="zh-CN" sz="1050" dirty="0" err="1" smtClean="0"/>
              <a:t>NumberOfSections</a:t>
            </a:r>
            <a:r>
              <a:rPr lang="en-US" altLang="zh-CN" sz="1050" dirty="0" smtClean="0"/>
              <a:t>  //</a:t>
            </a:r>
            <a:r>
              <a:rPr lang="zh-CN" altLang="en-US" sz="1050" dirty="0" smtClean="0"/>
              <a:t>文件的（节）区块数</a:t>
            </a:r>
          </a:p>
          <a:p>
            <a:r>
              <a:rPr lang="en-US" altLang="zh-CN" sz="1050" dirty="0" smtClean="0"/>
              <a:t>...</a:t>
            </a:r>
          </a:p>
          <a:p>
            <a:r>
              <a:rPr lang="en-US" altLang="zh-CN" sz="1050" dirty="0" smtClean="0"/>
              <a:t>WORD </a:t>
            </a:r>
            <a:r>
              <a:rPr lang="en-US" altLang="zh-CN" sz="1050" dirty="0" err="1" smtClean="0"/>
              <a:t>SizeOfOptionalHeader</a:t>
            </a:r>
            <a:r>
              <a:rPr lang="en-US" altLang="zh-CN" sz="1050" dirty="0" smtClean="0"/>
              <a:t> //IMAGE_OPTIONAL_HEADER</a:t>
            </a:r>
            <a:r>
              <a:rPr lang="zh-CN" altLang="en-US" sz="1050" dirty="0" smtClean="0"/>
              <a:t>结构的大小</a:t>
            </a:r>
            <a:endParaRPr lang="zh-CN" altLang="en-US" sz="1050" dirty="0"/>
          </a:p>
        </p:txBody>
      </p:sp>
      <p:sp>
        <p:nvSpPr>
          <p:cNvPr id="15" name="矩形 14"/>
          <p:cNvSpPr/>
          <p:nvPr/>
        </p:nvSpPr>
        <p:spPr>
          <a:xfrm>
            <a:off x="1744133" y="4097866"/>
            <a:ext cx="2670423" cy="13116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节表</a:t>
            </a:r>
            <a:r>
              <a:rPr lang="en-US" altLang="zh-CN" dirty="0" smtClean="0"/>
              <a:t>+</a:t>
            </a:r>
            <a:r>
              <a:rPr lang="zh-CN" altLang="en-US" dirty="0" smtClean="0"/>
              <a:t>对齐填充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757640" y="5444069"/>
            <a:ext cx="2670423" cy="872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节数据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1757640" y="6350688"/>
            <a:ext cx="2670423" cy="872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节数据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4428063" y="4097867"/>
            <a:ext cx="2990546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IMAGE_SECTION_HEADER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4421310" y="5096933"/>
            <a:ext cx="2990546" cy="312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IMAGE_SECTION_HEADER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421310" y="4868333"/>
            <a:ext cx="2990546" cy="227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7432115" y="2744475"/>
            <a:ext cx="4429683" cy="1344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50" dirty="0" smtClean="0"/>
              <a:t>WORD Magic  //</a:t>
            </a:r>
            <a:r>
              <a:rPr lang="zh-CN" altLang="en-US" sz="1050" dirty="0" smtClean="0"/>
              <a:t>文件的类型，</a:t>
            </a:r>
            <a:r>
              <a:rPr lang="en-US" altLang="zh-CN" sz="1050" dirty="0" smtClean="0"/>
              <a:t>PE32</a:t>
            </a:r>
            <a:r>
              <a:rPr lang="zh-CN" altLang="en-US" sz="1050" dirty="0" smtClean="0"/>
              <a:t>、</a:t>
            </a:r>
            <a:r>
              <a:rPr lang="en-US" altLang="zh-CN" sz="1050" dirty="0" smtClean="0"/>
              <a:t>ROM</a:t>
            </a:r>
            <a:r>
              <a:rPr lang="zh-CN" altLang="en-US" sz="1050" dirty="0" smtClean="0"/>
              <a:t>映像、</a:t>
            </a:r>
            <a:r>
              <a:rPr lang="en-US" altLang="zh-CN" sz="1050" dirty="0" smtClean="0"/>
              <a:t>PE32+</a:t>
            </a:r>
            <a:r>
              <a:rPr lang="zh-CN" altLang="en-US" sz="1050" dirty="0" smtClean="0"/>
              <a:t>等类型</a:t>
            </a:r>
            <a:endParaRPr lang="en-US" altLang="zh-CN" sz="1050" dirty="0" smtClean="0"/>
          </a:p>
          <a:p>
            <a:r>
              <a:rPr lang="en-US" altLang="zh-CN" sz="1050" dirty="0" smtClean="0"/>
              <a:t>...</a:t>
            </a:r>
          </a:p>
          <a:p>
            <a:r>
              <a:rPr lang="en-US" altLang="zh-CN" sz="1050" dirty="0"/>
              <a:t>DWORD </a:t>
            </a:r>
            <a:r>
              <a:rPr lang="en-US" altLang="zh-CN" sz="1050" dirty="0" err="1"/>
              <a:t>AddressOfEntryPoint</a:t>
            </a:r>
            <a:r>
              <a:rPr lang="en-US" altLang="zh-CN" sz="1050" dirty="0"/>
              <a:t> </a:t>
            </a:r>
            <a:r>
              <a:rPr lang="en-US" altLang="zh-CN" sz="1050" dirty="0" smtClean="0"/>
              <a:t>//</a:t>
            </a:r>
            <a:r>
              <a:rPr lang="zh-CN" altLang="en-US" sz="1050" dirty="0" smtClean="0"/>
              <a:t>入口点地址</a:t>
            </a:r>
            <a:endParaRPr lang="en-US" altLang="zh-CN" sz="1050" dirty="0" smtClean="0"/>
          </a:p>
          <a:p>
            <a:r>
              <a:rPr lang="en-US" altLang="zh-CN" sz="1050" dirty="0"/>
              <a:t>...</a:t>
            </a:r>
          </a:p>
          <a:p>
            <a:r>
              <a:rPr lang="en-US" altLang="zh-CN" sz="1050" dirty="0"/>
              <a:t>IMAGE_DATA_DIRECTORY </a:t>
            </a:r>
            <a:r>
              <a:rPr lang="en-US" altLang="zh-CN" sz="1050" dirty="0" err="1"/>
              <a:t>DataDirectory</a:t>
            </a:r>
            <a:r>
              <a:rPr lang="en-US" altLang="zh-CN" sz="1050" dirty="0"/>
              <a:t>[IMAGE_NUMBEROF_DIRECTORY_ENTRIES</a:t>
            </a:r>
            <a:r>
              <a:rPr lang="en-US" altLang="zh-CN" sz="1050" dirty="0" smtClean="0"/>
              <a:t>]; //</a:t>
            </a:r>
            <a:r>
              <a:rPr lang="zh-CN" altLang="en-US" sz="1050" dirty="0" smtClean="0"/>
              <a:t>数据目录</a:t>
            </a:r>
            <a:r>
              <a:rPr lang="zh-CN" altLang="en-US" sz="1050" dirty="0" smtClean="0"/>
              <a:t>表</a:t>
            </a:r>
            <a:endParaRPr lang="en-US" altLang="zh-CN" sz="1050" dirty="0" smtClean="0"/>
          </a:p>
          <a:p>
            <a:endParaRPr lang="zh-CN" altLang="en-US" sz="1050" dirty="0"/>
          </a:p>
        </p:txBody>
      </p:sp>
      <p:sp>
        <p:nvSpPr>
          <p:cNvPr id="22" name="矩形 21"/>
          <p:cNvSpPr/>
          <p:nvPr/>
        </p:nvSpPr>
        <p:spPr>
          <a:xfrm>
            <a:off x="7427692" y="4099643"/>
            <a:ext cx="4429683" cy="1344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/>
              <a:t>BYTE Name[IMAGE_SIZEOF_SHORT_NAME]; //ASCI</a:t>
            </a:r>
            <a:r>
              <a:rPr lang="zh-CN" altLang="en-US" sz="1000" dirty="0"/>
              <a:t>字符串可自定义只截取</a:t>
            </a:r>
            <a:r>
              <a:rPr lang="en-US" altLang="zh-CN" sz="1000" dirty="0"/>
              <a:t>8</a:t>
            </a:r>
            <a:r>
              <a:rPr lang="zh-CN" altLang="en-US" sz="1000" dirty="0" smtClean="0"/>
              <a:t>个</a:t>
            </a:r>
            <a:endParaRPr lang="en-US" altLang="zh-CN" sz="1000" dirty="0" smtClean="0"/>
          </a:p>
          <a:p>
            <a:r>
              <a:rPr lang="en-US" altLang="zh-CN" sz="1050" dirty="0" smtClean="0"/>
              <a:t>...</a:t>
            </a:r>
            <a:endParaRPr lang="en-US" altLang="zh-CN" sz="1050" dirty="0" smtClean="0"/>
          </a:p>
          <a:p>
            <a:r>
              <a:rPr lang="en-US" altLang="zh-CN" sz="1050" dirty="0"/>
              <a:t>DWORD </a:t>
            </a:r>
            <a:r>
              <a:rPr lang="en-US" altLang="zh-CN" sz="1050" dirty="0" err="1"/>
              <a:t>VirtualAddress</a:t>
            </a:r>
            <a:r>
              <a:rPr lang="en-US" altLang="zh-CN" sz="1050" dirty="0"/>
              <a:t>;//</a:t>
            </a:r>
            <a:r>
              <a:rPr lang="zh-CN" altLang="en-US" sz="1050" dirty="0"/>
              <a:t>在内存中的偏移地址</a:t>
            </a:r>
            <a:r>
              <a:rPr lang="en-US" altLang="zh-CN" sz="1050" dirty="0"/>
              <a:t>,</a:t>
            </a:r>
            <a:r>
              <a:rPr lang="zh-CN" altLang="en-US" sz="1050" dirty="0"/>
              <a:t>加上</a:t>
            </a:r>
            <a:r>
              <a:rPr lang="en-US" altLang="zh-CN" sz="1050" dirty="0" err="1"/>
              <a:t>ImageBase</a:t>
            </a:r>
            <a:r>
              <a:rPr lang="zh-CN" altLang="en-US" sz="1050" dirty="0"/>
              <a:t>才是在内存中的真正地址</a:t>
            </a:r>
          </a:p>
          <a:p>
            <a:r>
              <a:rPr lang="en-US" altLang="zh-CN" sz="1050" dirty="0"/>
              <a:t>DWORD </a:t>
            </a:r>
            <a:r>
              <a:rPr lang="en-US" altLang="zh-CN" sz="1050" dirty="0" err="1"/>
              <a:t>SizeOfRawData</a:t>
            </a:r>
            <a:r>
              <a:rPr lang="en-US" altLang="zh-CN" sz="1050" dirty="0"/>
              <a:t>;//</a:t>
            </a:r>
            <a:r>
              <a:rPr lang="zh-CN" altLang="en-US" sz="1050" dirty="0"/>
              <a:t>节在文件中对齐后的尺寸</a:t>
            </a:r>
          </a:p>
          <a:p>
            <a:r>
              <a:rPr lang="en-US" altLang="zh-CN" sz="1050" dirty="0"/>
              <a:t>DWORD </a:t>
            </a:r>
            <a:r>
              <a:rPr lang="en-US" altLang="zh-CN" sz="1050" dirty="0" err="1"/>
              <a:t>PointerToRawData</a:t>
            </a:r>
            <a:r>
              <a:rPr lang="en-US" altLang="zh-CN" sz="1050" dirty="0"/>
              <a:t>;//</a:t>
            </a:r>
            <a:r>
              <a:rPr lang="zh-CN" altLang="en-US" sz="1050" dirty="0"/>
              <a:t>节区在文件中的</a:t>
            </a:r>
            <a:r>
              <a:rPr lang="zh-CN" altLang="en-US" sz="1050" dirty="0" smtClean="0"/>
              <a:t>偏移</a:t>
            </a:r>
            <a:endParaRPr lang="en-US" altLang="zh-CN" sz="1050" dirty="0" smtClean="0"/>
          </a:p>
          <a:p>
            <a:r>
              <a:rPr lang="en-US" altLang="zh-CN" sz="1050" dirty="0"/>
              <a:t> </a:t>
            </a:r>
            <a:r>
              <a:rPr lang="en-US" altLang="zh-CN" sz="1050" dirty="0" smtClean="0"/>
              <a:t>               ...</a:t>
            </a:r>
          </a:p>
          <a:p>
            <a:r>
              <a:rPr lang="en-US" altLang="zh-CN" sz="1050" dirty="0"/>
              <a:t> </a:t>
            </a:r>
            <a:r>
              <a:rPr lang="en-US" altLang="zh-CN" sz="1050" dirty="0"/>
              <a:t>               DWORD Characteristics;//</a:t>
            </a:r>
            <a:r>
              <a:rPr lang="zh-CN" altLang="en-US" sz="1050" dirty="0"/>
              <a:t>节的属性</a:t>
            </a:r>
            <a:endParaRPr lang="en-US" altLang="zh-CN" sz="1050" dirty="0"/>
          </a:p>
        </p:txBody>
      </p:sp>
      <p:sp>
        <p:nvSpPr>
          <p:cNvPr id="14" name="直角三角形 13"/>
          <p:cNvSpPr/>
          <p:nvPr/>
        </p:nvSpPr>
        <p:spPr>
          <a:xfrm>
            <a:off x="7427692" y="4868333"/>
            <a:ext cx="604684" cy="575736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93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42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e_lfanew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 err="1" smtClean="0"/>
              <a:t>e_lfanew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字段是真正的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文件头的相对偏移</a:t>
            </a:r>
            <a:r>
              <a:rPr lang="en-US" altLang="zh-CN" dirty="0" smtClean="0"/>
              <a:t>(RVA),</a:t>
            </a:r>
            <a:r>
              <a:rPr lang="zh-CN" altLang="en-US" dirty="0" smtClean="0"/>
              <a:t>指出真正的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头的文件偏移位置</a:t>
            </a:r>
            <a:r>
              <a:rPr lang="en-US" altLang="zh-CN" dirty="0" smtClean="0"/>
              <a:t>,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4</a:t>
            </a:r>
            <a:r>
              <a:rPr lang="zh-CN" altLang="en-US" dirty="0" smtClean="0"/>
              <a:t>字节</a:t>
            </a:r>
            <a:r>
              <a:rPr lang="en-US" altLang="zh-CN" dirty="0" smtClean="0"/>
              <a:t>,</a:t>
            </a:r>
            <a:r>
              <a:rPr lang="zh-CN" altLang="en-US" dirty="0" smtClean="0"/>
              <a:t>位于从文件开始 偏移</a:t>
            </a:r>
            <a:r>
              <a:rPr lang="en-US" altLang="zh-CN" dirty="0" smtClean="0"/>
              <a:t>3Ch</a:t>
            </a:r>
            <a:r>
              <a:rPr lang="zh-CN" altLang="en-US" dirty="0" smtClean="0"/>
              <a:t>字节处。</a:t>
            </a:r>
            <a:endParaRPr lang="en-US" altLang="zh-CN" dirty="0"/>
          </a:p>
          <a:p>
            <a:r>
              <a:rPr lang="zh-CN" altLang="en-US" dirty="0" smtClean="0"/>
              <a:t>紧跟着 </a:t>
            </a:r>
            <a:r>
              <a:rPr lang="en-US" altLang="zh-CN" dirty="0" smtClean="0"/>
              <a:t>DOS stub </a:t>
            </a:r>
            <a:r>
              <a:rPr lang="zh-CN" altLang="en-US" dirty="0" smtClean="0"/>
              <a:t>的是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文件头</a:t>
            </a:r>
            <a:r>
              <a:rPr lang="en-US" altLang="zh-CN" dirty="0" smtClean="0"/>
              <a:t>(PE Header )</a:t>
            </a:r>
            <a:r>
              <a:rPr lang="zh-CN" altLang="en-US" dirty="0" smtClean="0"/>
              <a:t>。“</a:t>
            </a:r>
            <a:r>
              <a:rPr lang="en-US" altLang="zh-CN" dirty="0" smtClean="0"/>
              <a:t>PE Header”</a:t>
            </a:r>
            <a:r>
              <a:rPr lang="zh-CN" altLang="en-US" dirty="0" smtClean="0"/>
              <a:t>是</a:t>
            </a:r>
            <a:r>
              <a:rPr lang="en-US" altLang="zh-CN" dirty="0" smtClean="0"/>
              <a:t>PE </a:t>
            </a:r>
            <a:r>
              <a:rPr lang="zh-CN" altLang="en-US" dirty="0" smtClean="0"/>
              <a:t>相关结构 </a:t>
            </a:r>
            <a:r>
              <a:rPr lang="en-US" altLang="zh-CN" dirty="0" smtClean="0"/>
              <a:t>NT </a:t>
            </a:r>
            <a:r>
              <a:rPr lang="zh-CN" altLang="en-US" dirty="0" smtClean="0"/>
              <a:t>映像头</a:t>
            </a:r>
            <a:r>
              <a:rPr lang="en-US" altLang="zh-CN" dirty="0" smtClean="0"/>
              <a:t>(IMAGE_NT_HEADERS)</a:t>
            </a:r>
            <a:r>
              <a:rPr lang="zh-CN" altLang="en-US" dirty="0" smtClean="0"/>
              <a:t>的简称</a:t>
            </a:r>
            <a:r>
              <a:rPr lang="en-US" altLang="zh-CN" dirty="0" smtClean="0"/>
              <a:t>,</a:t>
            </a:r>
            <a:r>
              <a:rPr lang="zh-CN" altLang="en-US" dirty="0" smtClean="0"/>
              <a:t>其中包含许多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装载器能用到的重要字段。当执行体在支持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文件结构 的操作系统中执行时</a:t>
            </a:r>
            <a:r>
              <a:rPr lang="en-US" altLang="zh-CN" dirty="0" smtClean="0"/>
              <a:t>,PE </a:t>
            </a:r>
            <a:r>
              <a:rPr lang="zh-CN" altLang="en-US" dirty="0" smtClean="0"/>
              <a:t>装载器将从 </a:t>
            </a:r>
            <a:r>
              <a:rPr lang="en-US" altLang="zh-CN" dirty="0" smtClean="0"/>
              <a:t>IMAGE_DOS_HEADER </a:t>
            </a:r>
            <a:r>
              <a:rPr lang="zh-CN" altLang="en-US" dirty="0" smtClean="0"/>
              <a:t>结构的</a:t>
            </a:r>
            <a:r>
              <a:rPr lang="en-US" altLang="zh-CN" dirty="0" err="1" smtClean="0"/>
              <a:t>e_lfanew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字段里找到</a:t>
            </a:r>
            <a:r>
              <a:rPr lang="en-US" altLang="zh-CN" dirty="0" smtClean="0"/>
              <a:t>PE Header </a:t>
            </a:r>
            <a:r>
              <a:rPr lang="zh-CN" altLang="en-US" dirty="0" smtClean="0"/>
              <a:t>的起始偏移量</a:t>
            </a:r>
            <a:r>
              <a:rPr lang="en-US" altLang="zh-CN" dirty="0" smtClean="0"/>
              <a:t>,</a:t>
            </a:r>
            <a:r>
              <a:rPr lang="zh-CN" altLang="en-US" dirty="0" smtClean="0"/>
              <a:t>用其加上基址</a:t>
            </a:r>
            <a:r>
              <a:rPr lang="en-US" altLang="zh-CN" dirty="0" smtClean="0"/>
              <a:t>,</a:t>
            </a:r>
            <a:r>
              <a:rPr lang="zh-CN" altLang="en-US" dirty="0" smtClean="0"/>
              <a:t>得到</a:t>
            </a:r>
            <a:r>
              <a:rPr lang="en-US" altLang="zh-CN" dirty="0" smtClean="0"/>
              <a:t>PE </a:t>
            </a:r>
            <a:r>
              <a:rPr lang="zh-CN" altLang="en-US" dirty="0" smtClean="0"/>
              <a:t>文件头的指针。 </a:t>
            </a:r>
            <a:endParaRPr lang="en-US" altLang="zh-CN" dirty="0" smtClean="0"/>
          </a:p>
          <a:p>
            <a:r>
              <a:rPr lang="en-US" altLang="zh-CN" dirty="0" err="1" smtClean="0"/>
              <a:t>PE_NT_Header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ImageBase</a:t>
            </a:r>
            <a:r>
              <a:rPr lang="en-US" altLang="zh-CN" dirty="0" smtClean="0"/>
              <a:t> + </a:t>
            </a:r>
            <a:r>
              <a:rPr lang="en-US" altLang="zh-CN" dirty="0" err="1" smtClean="0"/>
              <a:t>dosHeader</a:t>
            </a:r>
            <a:r>
              <a:rPr lang="en-US" altLang="zh-CN" dirty="0" smtClean="0"/>
              <a:t>-&gt;</a:t>
            </a:r>
            <a:r>
              <a:rPr lang="en-US" altLang="zh-CN" dirty="0" err="1" smtClean="0"/>
              <a:t>e_lfanew</a:t>
            </a:r>
            <a:endParaRPr lang="en-US" altLang="zh-CN" dirty="0" smtClean="0"/>
          </a:p>
          <a:p>
            <a:r>
              <a:rPr lang="zh-CN" altLang="en-US" dirty="0" smtClean="0"/>
              <a:t>实际上有两个版本的</a:t>
            </a:r>
            <a:r>
              <a:rPr lang="en-US" altLang="zh-CN" dirty="0" smtClean="0"/>
              <a:t>IMAGE_NT_HEADER </a:t>
            </a:r>
            <a:r>
              <a:rPr lang="zh-CN" altLang="en-US" dirty="0" smtClean="0"/>
              <a:t>结构</a:t>
            </a:r>
            <a:r>
              <a:rPr lang="en-US" altLang="zh-CN" dirty="0" smtClean="0"/>
              <a:t>,</a:t>
            </a:r>
            <a:r>
              <a:rPr lang="zh-CN" altLang="en-US" dirty="0" smtClean="0"/>
              <a:t>一个是为</a:t>
            </a:r>
            <a:r>
              <a:rPr lang="en-US" altLang="zh-CN" dirty="0" smtClean="0"/>
              <a:t>PE32 (32</a:t>
            </a:r>
            <a:r>
              <a:rPr lang="zh-CN" altLang="en-US" dirty="0" smtClean="0"/>
              <a:t>位版本</a:t>
            </a:r>
            <a:r>
              <a:rPr lang="en-US" altLang="zh-CN" dirty="0" smtClean="0"/>
              <a:t>)</a:t>
            </a:r>
            <a:r>
              <a:rPr lang="zh-CN" altLang="en-US" dirty="0" smtClean="0"/>
              <a:t>可执行文件准备 的</a:t>
            </a:r>
            <a:r>
              <a:rPr lang="en-US" altLang="zh-CN" dirty="0" smtClean="0"/>
              <a:t>,</a:t>
            </a:r>
            <a:r>
              <a:rPr lang="zh-CN" altLang="en-US" dirty="0" smtClean="0"/>
              <a:t>另一个是</a:t>
            </a:r>
            <a:r>
              <a:rPr lang="en-US" altLang="zh-CN" dirty="0" smtClean="0"/>
              <a:t>PE32+(64</a:t>
            </a:r>
            <a:r>
              <a:rPr lang="zh-CN" altLang="en-US" dirty="0" smtClean="0"/>
              <a:t>位版本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。它们几乎没有区别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98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IMAGE_NT_HEADERS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9467" y="1608667"/>
            <a:ext cx="9474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_IMAGE_NT_HEADERS64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Signature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IMAGE_FILE_HEADER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FileHeader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IMAGE_OPTIONAL_HEADER64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OptionalHeader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IMAGE_NT_HEADERS64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PIMAGE_NT_HEADERS64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_IMAGE_NT_HEADERS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Signature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IMAGE_FILE_HEADER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FileHeader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IMAGE_OPTIONAL_HEADER32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OptionalHeader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IMAGE_NT_HEADERS32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PIMAGE_NT_HEADERS32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kern="0" dirty="0" err="1">
                <a:solidFill>
                  <a:srgbClr val="9A9A9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ifdef</a:t>
            </a:r>
            <a:r>
              <a:rPr lang="en-US" altLang="zh-CN" kern="0" dirty="0">
                <a:solidFill>
                  <a:srgbClr val="C8C8C8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BEB7FF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_WIN64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IMAGE_NT_HEADERS64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             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PIMAGE_NT_HEADERS64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        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kern="0" dirty="0">
                <a:solidFill>
                  <a:srgbClr val="9A9A9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9CDCFE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IMAGE_NT_HEADERS32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             </a:t>
            </a:r>
            <a:r>
              <a:rPr lang="en-US" altLang="zh-CN" kern="0" dirty="0">
                <a:solidFill>
                  <a:srgbClr val="9CDCFE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IMAGE_NT_HEADERS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9CDCFE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PIMAGE_NT_HEADERS32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             </a:t>
            </a:r>
            <a:r>
              <a:rPr lang="en-US" altLang="zh-CN" kern="0" dirty="0">
                <a:solidFill>
                  <a:srgbClr val="9CDCFE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PIMAGE_NT_HEADERS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en-US" altLang="zh-CN" kern="0" dirty="0" err="1">
                <a:solidFill>
                  <a:srgbClr val="9A9A9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endif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48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IMAGE_FILE_HEADER </a:t>
            </a:r>
            <a:r>
              <a:rPr lang="zh-CN" altLang="en-US" dirty="0" smtClean="0"/>
              <a:t>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zh-CN" dirty="0" smtClean="0"/>
              <a:t>IMAGE_FILE_HEADER(</a:t>
            </a:r>
            <a:r>
              <a:rPr lang="zh-CN" altLang="en-US" dirty="0" smtClean="0"/>
              <a:t>映像文件头</a:t>
            </a:r>
            <a:r>
              <a:rPr lang="en-US" altLang="zh-CN" dirty="0" smtClean="0"/>
              <a:t>)</a:t>
            </a:r>
            <a:r>
              <a:rPr lang="zh-CN" altLang="en-US" dirty="0" smtClean="0"/>
              <a:t>结构包含 </a:t>
            </a:r>
            <a:r>
              <a:rPr lang="en-US" altLang="zh-CN" dirty="0" smtClean="0"/>
              <a:t>PE </a:t>
            </a:r>
            <a:r>
              <a:rPr lang="zh-CN" altLang="en-US" dirty="0" smtClean="0"/>
              <a:t>文件的一些基本信息</a:t>
            </a:r>
            <a:r>
              <a:rPr lang="en-US" altLang="zh-CN" dirty="0" smtClean="0"/>
              <a:t>,</a:t>
            </a:r>
            <a:r>
              <a:rPr lang="zh-CN" altLang="en-US" dirty="0" smtClean="0"/>
              <a:t>最重要的是</a:t>
            </a:r>
            <a:r>
              <a:rPr lang="en-US" altLang="zh-CN" dirty="0" smtClean="0"/>
              <a:t>,</a:t>
            </a:r>
            <a:r>
              <a:rPr lang="zh-CN" altLang="en-US" dirty="0" smtClean="0"/>
              <a:t>其中的一个域指出了 </a:t>
            </a:r>
            <a:r>
              <a:rPr lang="en-US" altLang="zh-CN" dirty="0" smtClean="0"/>
              <a:t>IMAGE_OPTIONAL_HEADER </a:t>
            </a:r>
            <a:r>
              <a:rPr lang="zh-CN" altLang="en-US" dirty="0" smtClean="0"/>
              <a:t>的大小。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typedef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 err="1">
                <a:solidFill>
                  <a:srgbClr val="569CD6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_IMAGE_FILE_HEADER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Machine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NumberOfSections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TimeDateStamp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PointerToSymbolTable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NumberOfSymbols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</a:t>
            </a:r>
            <a:r>
              <a:rPr lang="en-US" altLang="zh-CN" kern="0" dirty="0" err="1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SizeOfOptionalHeader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WORD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   Characteristics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IMAGE_FILE_HEADER</a:t>
            </a:r>
            <a:r>
              <a:rPr lang="en-US" altLang="zh-CN" kern="0" dirty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kern="0" dirty="0">
                <a:solidFill>
                  <a:srgbClr val="4EC9B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PIMAGE_FILE_HEADER</a:t>
            </a:r>
            <a:r>
              <a:rPr lang="en-US" altLang="zh-CN" kern="0" dirty="0">
                <a:solidFill>
                  <a:srgbClr val="B4B4B4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zh-CN" altLang="zh-CN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 smtClean="0"/>
              <a:t>其次是</a:t>
            </a:r>
            <a:r>
              <a:rPr lang="en-US" altLang="zh-CN" kern="0" dirty="0" err="1" smtClean="0">
                <a:solidFill>
                  <a:srgbClr val="DADADA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NumberOfSections</a:t>
            </a:r>
            <a:r>
              <a:rPr lang="zh-CN" altLang="en-US" dirty="0"/>
              <a:t>指出</a:t>
            </a:r>
            <a:r>
              <a:rPr lang="en-US" altLang="zh-CN" dirty="0"/>
              <a:t>PE</a:t>
            </a:r>
            <a:r>
              <a:rPr lang="zh-CN" altLang="en-US" dirty="0"/>
              <a:t>文件节</a:t>
            </a:r>
            <a:r>
              <a:rPr lang="zh-CN" altLang="en-US" dirty="0" smtClean="0"/>
              <a:t>表项的数目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08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IMAGE_NT_HEADERS</a:t>
            </a:r>
            <a:r>
              <a:rPr lang="zh-CN" altLang="en-US" sz="2800" dirty="0" smtClean="0"/>
              <a:t>中</a:t>
            </a:r>
            <a:r>
              <a:rPr lang="en-US" altLang="zh-CN" sz="2800" dirty="0" smtClean="0"/>
              <a:t>IMAGE_OPTIONAL_HEADER</a:t>
            </a:r>
            <a:r>
              <a:rPr lang="zh-CN" altLang="en-US" sz="2800" dirty="0" smtClean="0"/>
              <a:t>明明是个固定大小的结构体，为何还需要在</a:t>
            </a:r>
            <a:r>
              <a:rPr lang="en-US" altLang="zh-CN" sz="2800" dirty="0" smtClean="0"/>
              <a:t>IMAGE_FILE_HEADER</a:t>
            </a:r>
            <a:r>
              <a:rPr lang="zh-CN" altLang="en-US" sz="2800" dirty="0" smtClean="0"/>
              <a:t>结构体中使用</a:t>
            </a:r>
            <a:r>
              <a:rPr lang="en-US" altLang="zh-CN" sz="2800" dirty="0" err="1" smtClean="0"/>
              <a:t>SizeOfOptionalHeader</a:t>
            </a:r>
            <a:r>
              <a:rPr lang="zh-CN" altLang="en-US" sz="2800" dirty="0" smtClean="0"/>
              <a:t>指定</a:t>
            </a:r>
            <a:r>
              <a:rPr lang="en-US" altLang="zh-CN" sz="2800" dirty="0" smtClean="0"/>
              <a:t>IMAGE_OPTIONAL_HEADER</a:t>
            </a:r>
            <a:r>
              <a:rPr lang="zh-CN" altLang="en-US" sz="2800" dirty="0" smtClean="0"/>
              <a:t>结构的大小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dirty="0"/>
              <a:t>IMAGE_FILE_HEADER</a:t>
            </a:r>
            <a:r>
              <a:rPr lang="zh-CN" altLang="en-US" dirty="0"/>
              <a:t>结构中的</a:t>
            </a:r>
            <a:r>
              <a:rPr lang="en-US" altLang="zh-CN" dirty="0" err="1"/>
              <a:t>SizeOfOptionalHeader</a:t>
            </a:r>
            <a:r>
              <a:rPr lang="zh-CN" altLang="en-US" dirty="0"/>
              <a:t>字段主要用于指示紧随其后的</a:t>
            </a:r>
            <a:r>
              <a:rPr lang="en-US" altLang="zh-CN" dirty="0"/>
              <a:t>IMAGE_OPTIONAL_HEADER</a:t>
            </a:r>
            <a:r>
              <a:rPr lang="zh-CN" altLang="en-US" dirty="0"/>
              <a:t>结构的大小，该字段的存在有以下关键原因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514350" indent="-514350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‌</a:t>
            </a:r>
            <a:r>
              <a:rPr lang="zh-CN" altLang="en-US" b="1" dirty="0"/>
              <a:t>兼容不同</a:t>
            </a:r>
            <a:r>
              <a:rPr lang="en-US" altLang="zh-CN" b="1" dirty="0"/>
              <a:t>PE</a:t>
            </a:r>
            <a:r>
              <a:rPr lang="zh-CN" altLang="en-US" b="1" dirty="0"/>
              <a:t>格式变体</a:t>
            </a:r>
            <a:r>
              <a:rPr lang="zh-CN" altLang="en-US" dirty="0"/>
              <a:t>‌</a:t>
            </a:r>
            <a:br>
              <a:rPr lang="zh-CN" altLang="en-US" dirty="0"/>
            </a:br>
            <a:r>
              <a:rPr lang="en-US" altLang="zh-CN" dirty="0"/>
              <a:t>PE</a:t>
            </a:r>
            <a:r>
              <a:rPr lang="zh-CN" altLang="en-US" dirty="0"/>
              <a:t>文件存在</a:t>
            </a:r>
            <a:r>
              <a:rPr lang="en-US" altLang="zh-CN" dirty="0"/>
              <a:t>32</a:t>
            </a:r>
            <a:r>
              <a:rPr lang="zh-CN" altLang="en-US" dirty="0"/>
              <a:t>位（</a:t>
            </a:r>
            <a:r>
              <a:rPr lang="en-US" altLang="zh-CN" dirty="0"/>
              <a:t>IMAGE_OPTIONAL_HEADER32</a:t>
            </a:r>
            <a:r>
              <a:rPr lang="zh-CN" altLang="en-US" dirty="0"/>
              <a:t>）和</a:t>
            </a:r>
            <a:r>
              <a:rPr lang="en-US" altLang="zh-CN" dirty="0"/>
              <a:t>64</a:t>
            </a:r>
            <a:r>
              <a:rPr lang="zh-CN" altLang="en-US" dirty="0"/>
              <a:t>位（</a:t>
            </a:r>
            <a:r>
              <a:rPr lang="en-US" altLang="zh-CN" dirty="0"/>
              <a:t>IMAGE_OPTIONAL_HEADER64</a:t>
            </a:r>
            <a:r>
              <a:rPr lang="zh-CN" altLang="en-US" dirty="0"/>
              <a:t>）两种扩展头结构，其大小分别为</a:t>
            </a:r>
            <a:r>
              <a:rPr lang="en-US" altLang="zh-CN" dirty="0"/>
              <a:t>0xE0</a:t>
            </a:r>
            <a:r>
              <a:rPr lang="zh-CN" altLang="en-US" dirty="0"/>
              <a:t>和</a:t>
            </a:r>
            <a:r>
              <a:rPr lang="en-US" altLang="zh-CN" dirty="0"/>
              <a:t>0xF0</a:t>
            </a:r>
            <a:r>
              <a:rPr lang="zh-CN" altLang="en-US" dirty="0"/>
              <a:t>字节。</a:t>
            </a:r>
            <a:r>
              <a:rPr lang="en-US" altLang="zh-CN" dirty="0" err="1"/>
              <a:t>SizeOfOptionalHeader</a:t>
            </a:r>
            <a:r>
              <a:rPr lang="zh-CN" altLang="en-US" dirty="0"/>
              <a:t>通过动态指定大小，使加载器能正确解析不同位宽的</a:t>
            </a:r>
            <a:r>
              <a:rPr lang="en-US" altLang="zh-CN" dirty="0"/>
              <a:t>PE</a:t>
            </a:r>
            <a:r>
              <a:rPr lang="zh-CN" altLang="en-US" dirty="0" smtClean="0"/>
              <a:t>文件。</a:t>
            </a:r>
            <a:endParaRPr lang="zh-CN" altLang="en-US" dirty="0"/>
          </a:p>
          <a:p>
            <a:pPr marL="514350" indent="-514350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‌</a:t>
            </a:r>
            <a:r>
              <a:rPr lang="zh-CN" altLang="en-US" b="1" dirty="0"/>
              <a:t>支持历史</a:t>
            </a:r>
            <a:r>
              <a:rPr lang="en-US" altLang="zh-CN" b="1" dirty="0"/>
              <a:t>COFF</a:t>
            </a:r>
            <a:r>
              <a:rPr lang="zh-CN" altLang="en-US" b="1" dirty="0"/>
              <a:t>规范扩展</a:t>
            </a:r>
            <a:r>
              <a:rPr lang="zh-CN" altLang="en-US" dirty="0"/>
              <a:t>‌</a:t>
            </a:r>
            <a:br>
              <a:rPr lang="zh-CN" altLang="en-US" dirty="0"/>
            </a:br>
            <a:r>
              <a:rPr lang="zh-CN" altLang="en-US" dirty="0"/>
              <a:t>可选头最初是</a:t>
            </a:r>
            <a:r>
              <a:rPr lang="en-US" altLang="zh-CN" dirty="0"/>
              <a:t>COFF</a:t>
            </a:r>
            <a:r>
              <a:rPr lang="zh-CN" altLang="en-US" dirty="0"/>
              <a:t>规范的扩展部分，其前</a:t>
            </a:r>
            <a:r>
              <a:rPr lang="en-US" altLang="zh-CN" dirty="0"/>
              <a:t>10</a:t>
            </a:r>
            <a:r>
              <a:rPr lang="zh-CN" altLang="en-US" dirty="0"/>
              <a:t>个字段属于标准</a:t>
            </a:r>
            <a:r>
              <a:rPr lang="en-US" altLang="zh-CN" dirty="0"/>
              <a:t>COFF</a:t>
            </a:r>
            <a:r>
              <a:rPr lang="zh-CN" altLang="en-US" dirty="0"/>
              <a:t>，后</a:t>
            </a:r>
            <a:r>
              <a:rPr lang="en-US" altLang="zh-CN" dirty="0"/>
              <a:t>21</a:t>
            </a:r>
            <a:r>
              <a:rPr lang="zh-CN" altLang="en-US" dirty="0"/>
              <a:t>个字段为</a:t>
            </a:r>
            <a:r>
              <a:rPr lang="en-US" altLang="zh-CN" dirty="0"/>
              <a:t>PE</a:t>
            </a:r>
            <a:r>
              <a:rPr lang="zh-CN" altLang="en-US" dirty="0"/>
              <a:t>特有。虽然现代</a:t>
            </a:r>
            <a:r>
              <a:rPr lang="en-US" altLang="zh-CN" dirty="0"/>
              <a:t>PE</a:t>
            </a:r>
            <a:r>
              <a:rPr lang="zh-CN" altLang="en-US" dirty="0"/>
              <a:t>文件中可选头大小通常固定，但保留此字段可确保对早期</a:t>
            </a:r>
            <a:r>
              <a:rPr lang="en-US" altLang="zh-CN" dirty="0"/>
              <a:t>COFF</a:t>
            </a:r>
            <a:r>
              <a:rPr lang="zh-CN" altLang="en-US" dirty="0"/>
              <a:t>目标文件的</a:t>
            </a:r>
            <a:r>
              <a:rPr lang="zh-CN" altLang="en-US" dirty="0" smtClean="0"/>
              <a:t>兼容性。</a:t>
            </a:r>
            <a:endParaRPr lang="zh-CN" altLang="en-US" dirty="0"/>
          </a:p>
          <a:p>
            <a:pPr marL="514350" indent="-514350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/>
              <a:t>‌</a:t>
            </a:r>
            <a:r>
              <a:rPr lang="zh-CN" altLang="en-US" b="1" dirty="0"/>
              <a:t>处理编译器差异</a:t>
            </a:r>
            <a:r>
              <a:rPr lang="zh-CN" altLang="en-US" dirty="0"/>
              <a:t>‌</a:t>
            </a:r>
            <a:br>
              <a:rPr lang="zh-CN" altLang="en-US" dirty="0"/>
            </a:br>
            <a:r>
              <a:rPr lang="zh-CN" altLang="en-US" dirty="0"/>
              <a:t>不同编译器生成的可选</a:t>
            </a:r>
            <a:r>
              <a:rPr lang="zh-CN" altLang="en-US" dirty="0" smtClean="0"/>
              <a:t>头可能存在细微差异（如对齐填充），</a:t>
            </a:r>
            <a:r>
              <a:rPr lang="en-US" altLang="zh-CN" dirty="0" err="1" smtClean="0"/>
              <a:t>SizeOfOptionalHeader</a:t>
            </a:r>
            <a:r>
              <a:rPr lang="zh-CN" altLang="en-US" dirty="0" smtClean="0"/>
              <a:t>确保加载器能准确跳过文件头定位节表起始位置。</a:t>
            </a:r>
          </a:p>
          <a:p>
            <a:pPr marL="514350" indent="-514350">
              <a:lnSpc>
                <a:spcPct val="17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 smtClean="0"/>
              <a:t>‌</a:t>
            </a:r>
            <a:r>
              <a:rPr lang="zh-CN" altLang="en-US" b="1" dirty="0" smtClean="0"/>
              <a:t>验证文件完整性</a:t>
            </a:r>
            <a:r>
              <a:rPr lang="zh-CN" altLang="en-US" dirty="0" smtClean="0"/>
              <a:t>‌</a:t>
            </a:r>
            <a:br>
              <a:rPr lang="zh-CN" altLang="en-US" dirty="0" smtClean="0"/>
            </a:br>
            <a:r>
              <a:rPr lang="zh-CN" altLang="en-US" dirty="0" smtClean="0"/>
              <a:t>该字段可作为</a:t>
            </a:r>
            <a:r>
              <a:rPr lang="en-US" altLang="zh-CN" dirty="0" smtClean="0"/>
              <a:t>PE</a:t>
            </a:r>
            <a:r>
              <a:rPr lang="zh-CN" altLang="en-US" dirty="0" smtClean="0"/>
              <a:t>文件有效性校验的参考值，若实际可选头大小与声明值不符，系统可能拒绝加载。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dirty="0" smtClean="0"/>
              <a:t>因此</a:t>
            </a:r>
            <a:r>
              <a:rPr lang="zh-CN" altLang="en-US" dirty="0"/>
              <a:t>，尽管多数情况下该字段值相对固定（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PE</a:t>
            </a:r>
            <a:r>
              <a:rPr lang="zh-CN" altLang="en-US" dirty="0"/>
              <a:t>为</a:t>
            </a:r>
            <a:r>
              <a:rPr lang="en-US" altLang="zh-CN" dirty="0"/>
              <a:t>0xE0</a:t>
            </a:r>
            <a:r>
              <a:rPr lang="zh-CN" altLang="en-US" dirty="0"/>
              <a:t>，</a:t>
            </a: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PE</a:t>
            </a:r>
            <a:r>
              <a:rPr lang="zh-CN" altLang="en-US" dirty="0"/>
              <a:t>为</a:t>
            </a:r>
            <a:r>
              <a:rPr lang="en-US" altLang="zh-CN" dirty="0"/>
              <a:t>0xF0</a:t>
            </a:r>
            <a:r>
              <a:rPr lang="zh-CN" altLang="en-US" dirty="0"/>
              <a:t>），但其设计初衷是为了实现格式兼容性和扩展</a:t>
            </a:r>
            <a:r>
              <a:rPr lang="zh-CN" altLang="en-US" dirty="0" smtClean="0"/>
              <a:t>灵活性。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8645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99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IMAGE_OPTIONAL_HEADER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_IMAGE_OPTIONAL_HEADER {</a:t>
            </a:r>
          </a:p>
          <a:p>
            <a:pPr marL="0" indent="0">
              <a:buNone/>
            </a:pPr>
            <a:r>
              <a:rPr lang="en-US" altLang="zh-CN" dirty="0"/>
              <a:t>  WORD                 Magic;</a:t>
            </a:r>
          </a:p>
          <a:p>
            <a:pPr marL="0" indent="0">
              <a:buNone/>
            </a:pPr>
            <a:r>
              <a:rPr lang="en-US" altLang="zh-CN" dirty="0"/>
              <a:t>  BYTE                 </a:t>
            </a:r>
            <a:r>
              <a:rPr lang="en-US" altLang="zh-CN" dirty="0" err="1"/>
              <a:t>MajorLinkerVersion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BYTE                 </a:t>
            </a:r>
            <a:r>
              <a:rPr lang="en-US" altLang="zh-CN" dirty="0" err="1"/>
              <a:t>MinorLinkerVersion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SizeOfCode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SizeOfInitializedData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SizeOfUninitializedData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AddressOfEntryPoint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BaseOfCode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BaseOfData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ImageBase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SectionAlignment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FileAlignment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MajorOperatingSystemVersion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MinorOperatingSystemVersion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MajorImageVersion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MinorImageVersion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MajorSubsystemVersion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MinorSubsystemVersion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Win32VersionValue;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SizeOfImage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SizeOfHeaders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CheckSum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WORD                 Subsystem;</a:t>
            </a:r>
          </a:p>
          <a:p>
            <a:pPr marL="0" indent="0">
              <a:buNone/>
            </a:pPr>
            <a:r>
              <a:rPr lang="en-US" altLang="zh-CN" dirty="0"/>
              <a:t>  WORD                 </a:t>
            </a:r>
            <a:r>
              <a:rPr lang="en-US" altLang="zh-CN" dirty="0" err="1"/>
              <a:t>DllCharacteristics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SizeOfStackReserve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SizeOfStackCommit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SizeOfHeapReserve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SizeOfHeapCommit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LoaderFlags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DWORD                </a:t>
            </a:r>
            <a:r>
              <a:rPr lang="en-US" altLang="zh-CN" dirty="0" err="1"/>
              <a:t>NumberOfRvaAndSizes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IMAGE_DATA_DIRECTORY </a:t>
            </a:r>
            <a:r>
              <a:rPr lang="en-US" altLang="zh-CN" dirty="0" err="1"/>
              <a:t>DataDirectory</a:t>
            </a:r>
            <a:r>
              <a:rPr lang="en-US" altLang="zh-CN" dirty="0"/>
              <a:t>[IMAGE_NUMBEROF_DIRECTORY_ENTRIES];</a:t>
            </a:r>
          </a:p>
          <a:p>
            <a:pPr marL="0" indent="0">
              <a:buNone/>
            </a:pPr>
            <a:r>
              <a:rPr lang="en-US" altLang="zh-CN" dirty="0"/>
              <a:t>} IMAGE_OPTIONAL_HEADER32, *PIMAGE_OPTIONAL_HEADER32;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057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IMAGE_OPTIONAL_HEADER.Magic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703106"/>
              </p:ext>
            </p:extLst>
          </p:nvPr>
        </p:nvGraphicFramePr>
        <p:xfrm>
          <a:off x="838197" y="1989614"/>
          <a:ext cx="10515602" cy="3200400"/>
        </p:xfrm>
        <a:graphic>
          <a:graphicData uri="http://schemas.openxmlformats.org/drawingml/2006/table">
            <a:tbl>
              <a:tblPr/>
              <a:tblGrid>
                <a:gridCol w="5257801">
                  <a:extLst>
                    <a:ext uri="{9D8B030D-6E8A-4147-A177-3AD203B41FA5}">
                      <a16:colId xmlns:a16="http://schemas.microsoft.com/office/drawing/2014/main" val="2854052919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897233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Value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Meaning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08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IMAGE_NT_OPTIONAL_HDR_MAGIC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file is an executable image. This value is defined as </a:t>
                      </a:r>
                      <a:r>
                        <a:rPr lang="en-US" b="1">
                          <a:effectLst/>
                        </a:rPr>
                        <a:t>IMAGE_NT_OPTIONAL_HDR32_MAGIC</a:t>
                      </a:r>
                      <a:r>
                        <a:rPr lang="en-US">
                          <a:effectLst/>
                        </a:rPr>
                        <a:t> in a 32-bit application and as </a:t>
                      </a:r>
                      <a:r>
                        <a:rPr lang="en-US" b="1">
                          <a:effectLst/>
                        </a:rPr>
                        <a:t>IMAGE_NT_OPTIONAL_HDR64_MAGIC</a:t>
                      </a:r>
                      <a:r>
                        <a:rPr lang="en-US">
                          <a:effectLst/>
                        </a:rPr>
                        <a:t> in a 64-bit application.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1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IMAGE_NT_OPTIONAL_HDR32_MAGIC</a:t>
                      </a:r>
                      <a:r>
                        <a:rPr lang="en-US">
                          <a:effectLst/>
                        </a:rPr>
                        <a:t>0x10b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file is an executable image.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069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IMAGE_NT_OPTIONAL_HDR64_MAGIC</a:t>
                      </a:r>
                      <a:r>
                        <a:rPr lang="en-US">
                          <a:effectLst/>
                        </a:rPr>
                        <a:t>0x20b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file is an executable image.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2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IMAGE_ROM_OPTIONAL_HDR_MAGIC</a:t>
                      </a:r>
                      <a:r>
                        <a:rPr lang="en-US">
                          <a:effectLst/>
                        </a:rPr>
                        <a:t>0x107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file is a ROM image.</a:t>
                      </a:r>
                    </a:p>
                  </a:txBody>
                  <a:tcPr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6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473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85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40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IMAGE_DATA_DIRECTORY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Certificate Table or Security Directory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“Certificate Table”</a:t>
            </a:r>
            <a:r>
              <a:rPr lang="zh-CN" altLang="en-US" dirty="0"/>
              <a:t>指的就是 </a:t>
            </a:r>
            <a:r>
              <a:rPr lang="en-US" altLang="zh-CN" dirty="0"/>
              <a:t>PE/COFF </a:t>
            </a:r>
            <a:r>
              <a:rPr lang="zh-CN" altLang="en-US" dirty="0"/>
              <a:t>中的 </a:t>
            </a:r>
            <a:r>
              <a:rPr lang="en-US" altLang="zh-CN" dirty="0"/>
              <a:t>Attribute Certificate Table</a:t>
            </a:r>
            <a:r>
              <a:rPr lang="zh-CN" altLang="en-US" dirty="0"/>
              <a:t>（安全目录，</a:t>
            </a:r>
            <a:r>
              <a:rPr lang="en-US" altLang="zh-CN" dirty="0"/>
              <a:t>Security Directory</a:t>
            </a:r>
            <a:r>
              <a:rPr lang="zh-CN" altLang="en-US" dirty="0"/>
              <a:t>）。它存放的是对文件的签名数据（通常为 </a:t>
            </a:r>
            <a:r>
              <a:rPr lang="en-US" altLang="zh-CN" dirty="0"/>
              <a:t>PKCS#7</a:t>
            </a:r>
            <a:r>
              <a:rPr lang="zh-CN" altLang="en-US" dirty="0"/>
              <a:t>），由一个或多个 </a:t>
            </a:r>
            <a:r>
              <a:rPr lang="en-US" altLang="zh-CN" dirty="0"/>
              <a:t>WIN_CERTIFICATE </a:t>
            </a:r>
            <a:r>
              <a:rPr lang="zh-CN" altLang="en-US" dirty="0"/>
              <a:t>结构组成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它对应的可选头数据目录</a:t>
            </a:r>
            <a:r>
              <a:rPr lang="zh-CN" altLang="en-US" dirty="0" smtClean="0"/>
              <a:t>项索引是 </a:t>
            </a:r>
            <a:r>
              <a:rPr lang="en-US" altLang="zh-CN" dirty="0"/>
              <a:t>IMAGE_DIRECTORY_ENTRY_SECURITY</a:t>
            </a:r>
            <a:r>
              <a:rPr lang="zh-CN" altLang="en-US" dirty="0"/>
              <a:t>（在 </a:t>
            </a:r>
            <a:r>
              <a:rPr lang="en-US" altLang="zh-CN" dirty="0"/>
              <a:t>IMAGE_OPTIONAL_HEADER</a:t>
            </a:r>
            <a:r>
              <a:rPr lang="zh-CN" altLang="en-US" dirty="0" smtClean="0"/>
              <a:t>的 </a:t>
            </a:r>
            <a:r>
              <a:rPr lang="en-US" altLang="zh-CN" dirty="0" err="1"/>
              <a:t>DataDirectory</a:t>
            </a:r>
            <a:r>
              <a:rPr lang="zh-CN" altLang="en-US" dirty="0" smtClean="0"/>
              <a:t>数组</a:t>
            </a:r>
            <a:r>
              <a:rPr lang="zh-CN" altLang="en-US" dirty="0"/>
              <a:t>里）。如果文件没有签名，这一目录项会是全零。这个目录项的地址不是 </a:t>
            </a:r>
            <a:r>
              <a:rPr lang="en-US" altLang="zh-CN" dirty="0"/>
              <a:t>RVA</a:t>
            </a:r>
            <a:r>
              <a:rPr lang="zh-CN" altLang="en-US" dirty="0"/>
              <a:t>，而是文件偏移（</a:t>
            </a:r>
            <a:r>
              <a:rPr lang="en-US" altLang="zh-CN" dirty="0"/>
              <a:t>File Offset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数据通常附加在文件</a:t>
            </a:r>
            <a:r>
              <a:rPr lang="zh-CN" altLang="en-US" dirty="0" smtClean="0"/>
              <a:t>末尾，</a:t>
            </a:r>
            <a:r>
              <a:rPr lang="en-US" altLang="zh-CN" dirty="0" smtClean="0"/>
              <a:t>Authenticode </a:t>
            </a:r>
            <a:r>
              <a:rPr lang="zh-CN" altLang="en-US" dirty="0"/>
              <a:t>的哈希计算会跳过这个</a:t>
            </a:r>
            <a:r>
              <a:rPr lang="zh-CN" altLang="en-US" dirty="0" smtClean="0"/>
              <a:t>区域。详细请参考“</a:t>
            </a:r>
            <a:r>
              <a:rPr lang="en-US" altLang="zh-CN" dirty="0" smtClean="0">
                <a:hlinkClick r:id="rId2" action="ppaction://hlinkfile"/>
              </a:rPr>
              <a:t>Authenticode_PE.docx</a:t>
            </a:r>
            <a:r>
              <a:rPr lang="zh-CN" altLang="en-US" dirty="0"/>
              <a:t> ”</a:t>
            </a:r>
            <a:r>
              <a:rPr lang="zh-CN" altLang="en-US" dirty="0" smtClean="0"/>
              <a:t>文档。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300" dirty="0"/>
              <a:t>https://github.com/lief-project/LIEF/blob/4196d2fdbf1be6653ec87a1d5170aba1062a0337/doc/sphinx/tutorials/13_pe_authenticode.rst</a:t>
            </a:r>
            <a:endParaRPr lang="zh-CN" altLang="en-US" sz="1300" dirty="0"/>
          </a:p>
        </p:txBody>
      </p:sp>
    </p:spTree>
    <p:extLst>
      <p:ext uri="{BB962C8B-B14F-4D97-AF65-F5344CB8AC3E}">
        <p14:creationId xmlns:p14="http://schemas.microsoft.com/office/powerpoint/2010/main" val="189216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为什么</a:t>
            </a:r>
            <a:r>
              <a:rPr lang="en-US" altLang="zh-CN" dirty="0"/>
              <a:t>PE</a:t>
            </a:r>
            <a:r>
              <a:rPr lang="zh-CN" altLang="en-US" dirty="0"/>
              <a:t>文件结构定义时字段名为 </a:t>
            </a:r>
            <a:r>
              <a:rPr lang="en-US" altLang="zh-CN" dirty="0"/>
              <a:t>Certificate Table</a:t>
            </a:r>
            <a:r>
              <a:rPr lang="zh-CN" altLang="en-US" dirty="0"/>
              <a:t>，而</a:t>
            </a:r>
            <a:r>
              <a:rPr lang="en-US" altLang="zh-CN" dirty="0" err="1"/>
              <a:t>winnt.h</a:t>
            </a:r>
            <a:r>
              <a:rPr lang="zh-CN" altLang="en-US" dirty="0"/>
              <a:t>定义宏变量时却把名称改为</a:t>
            </a:r>
            <a:r>
              <a:rPr lang="en-US" altLang="zh-CN" dirty="0"/>
              <a:t>IMAGE_DIRECTORY_ENTRY_SECURITY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zh-CN" altLang="en-US" dirty="0"/>
              <a:t>两者是同一个东西，只是命名来自不同历史</a:t>
            </a:r>
            <a:r>
              <a:rPr lang="en-US" altLang="zh-CN" dirty="0"/>
              <a:t>/</a:t>
            </a:r>
            <a:r>
              <a:rPr lang="zh-CN" altLang="en-US" dirty="0"/>
              <a:t>上下文。</a:t>
            </a:r>
            <a:r>
              <a:rPr lang="en-US" altLang="zh-CN" dirty="0"/>
              <a:t>PE/COFF </a:t>
            </a:r>
            <a:r>
              <a:rPr lang="zh-CN" altLang="en-US" dirty="0"/>
              <a:t>规范在描述结构时使用“</a:t>
            </a:r>
            <a:r>
              <a:rPr lang="en-US" altLang="zh-CN" dirty="0"/>
              <a:t>Certificate Table/Attribute Certificate Table”</a:t>
            </a:r>
            <a:r>
              <a:rPr lang="zh-CN" altLang="en-US" dirty="0"/>
              <a:t>的术语；</a:t>
            </a:r>
            <a:r>
              <a:rPr lang="en-US" altLang="zh-CN" dirty="0"/>
              <a:t>Windows </a:t>
            </a:r>
            <a:r>
              <a:rPr lang="zh-CN" altLang="en-US" dirty="0"/>
              <a:t>头文件（</a:t>
            </a:r>
            <a:r>
              <a:rPr lang="en-US" altLang="zh-CN" dirty="0" err="1"/>
              <a:t>winnt.h</a:t>
            </a:r>
            <a:r>
              <a:rPr lang="zh-CN" altLang="en-US" dirty="0"/>
              <a:t>）在数据目录索引的宏命名上沿用了更早期的“</a:t>
            </a:r>
            <a:r>
              <a:rPr lang="en-US" altLang="zh-CN" dirty="0"/>
              <a:t>Security”</a:t>
            </a:r>
            <a:r>
              <a:rPr lang="zh-CN" altLang="en-US" dirty="0"/>
              <a:t>术语，因此把该目录项命名为 </a:t>
            </a:r>
            <a:r>
              <a:rPr lang="en-US" altLang="zh-CN" dirty="0"/>
              <a:t>IMAGE_DIRECTORY_ENTRY_SECURITY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详细解释：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 </a:t>
            </a:r>
            <a:r>
              <a:rPr lang="en-US" altLang="zh-CN" dirty="0"/>
              <a:t>PE </a:t>
            </a:r>
            <a:r>
              <a:rPr lang="zh-CN" altLang="en-US" dirty="0"/>
              <a:t>的 </a:t>
            </a:r>
            <a:r>
              <a:rPr lang="en-US" altLang="zh-CN" dirty="0"/>
              <a:t>Optional Header Data Directories </a:t>
            </a:r>
            <a:r>
              <a:rPr lang="zh-CN" altLang="en-US" dirty="0"/>
              <a:t>里，每个目录项都有一个索引常量（宏），由 </a:t>
            </a:r>
            <a:r>
              <a:rPr lang="en-US" altLang="zh-CN" dirty="0" err="1"/>
              <a:t>winnt.h</a:t>
            </a:r>
            <a:r>
              <a:rPr lang="en-US" altLang="zh-CN" dirty="0"/>
              <a:t> </a:t>
            </a:r>
            <a:r>
              <a:rPr lang="zh-CN" altLang="en-US" dirty="0"/>
              <a:t>定义，例如 </a:t>
            </a:r>
            <a:r>
              <a:rPr lang="en-US" altLang="zh-CN" dirty="0"/>
              <a:t>EXPORT</a:t>
            </a:r>
            <a:r>
              <a:rPr lang="zh-CN" altLang="en-US" dirty="0"/>
              <a:t>、</a:t>
            </a:r>
            <a:r>
              <a:rPr lang="en-US" altLang="zh-CN" dirty="0"/>
              <a:t>IMPORT</a:t>
            </a:r>
            <a:r>
              <a:rPr lang="zh-CN" altLang="en-US" dirty="0"/>
              <a:t>、</a:t>
            </a:r>
            <a:r>
              <a:rPr lang="en-US" altLang="zh-CN" dirty="0"/>
              <a:t>RESOURCE </a:t>
            </a:r>
            <a:r>
              <a:rPr lang="zh-CN" altLang="en-US" dirty="0"/>
              <a:t>等。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存放签名（</a:t>
            </a:r>
            <a:r>
              <a:rPr lang="en-US" altLang="zh-CN" dirty="0"/>
              <a:t>WIN_CERTIFICATE</a:t>
            </a:r>
            <a:r>
              <a:rPr lang="zh-CN" altLang="en-US" dirty="0"/>
              <a:t>，通常为 </a:t>
            </a:r>
            <a:r>
              <a:rPr lang="en-US" altLang="zh-CN" dirty="0"/>
              <a:t>PKCS#7</a:t>
            </a:r>
            <a:r>
              <a:rPr lang="zh-CN" altLang="en-US" dirty="0"/>
              <a:t>）的那个目录项在规范中叫 “</a:t>
            </a:r>
            <a:r>
              <a:rPr lang="en-US" altLang="zh-CN" dirty="0"/>
              <a:t>Attribute Certificate Table” </a:t>
            </a:r>
            <a:r>
              <a:rPr lang="zh-CN" altLang="en-US" dirty="0"/>
              <a:t>或 “</a:t>
            </a:r>
            <a:r>
              <a:rPr lang="en-US" altLang="zh-CN" dirty="0"/>
              <a:t>Certificate Table”</a:t>
            </a:r>
            <a:r>
              <a:rPr lang="zh-CN" altLang="en-US" dirty="0"/>
              <a:t>。同一位置在 </a:t>
            </a:r>
            <a:r>
              <a:rPr lang="en-US" altLang="zh-CN" dirty="0" err="1"/>
              <a:t>winnt.h</a:t>
            </a:r>
            <a:r>
              <a:rPr lang="en-US" altLang="zh-CN" dirty="0"/>
              <a:t> </a:t>
            </a:r>
            <a:r>
              <a:rPr lang="zh-CN" altLang="en-US" dirty="0"/>
              <a:t>的宏名是 </a:t>
            </a:r>
            <a:r>
              <a:rPr lang="en-US" altLang="zh-CN" dirty="0"/>
              <a:t>IMAGE_DIRECTORY_ENTRY_SECURITY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“</a:t>
            </a:r>
            <a:r>
              <a:rPr lang="en-US" altLang="zh-CN" dirty="0"/>
              <a:t>Security”</a:t>
            </a:r>
            <a:r>
              <a:rPr lang="zh-CN" altLang="en-US" dirty="0"/>
              <a:t>是早期 </a:t>
            </a:r>
            <a:r>
              <a:rPr lang="en-US" altLang="zh-CN" dirty="0"/>
              <a:t>NT/PE </a:t>
            </a:r>
            <a:r>
              <a:rPr lang="zh-CN" altLang="en-US" dirty="0"/>
              <a:t>文档对这类安全相关附加数据的统称；随着 </a:t>
            </a:r>
            <a:r>
              <a:rPr lang="en-US" altLang="zh-CN" dirty="0"/>
              <a:t>Authenticode/</a:t>
            </a:r>
            <a:r>
              <a:rPr lang="zh-CN" altLang="en-US" dirty="0"/>
              <a:t>证书签名成为主要用途，规范文本更倾向使用“</a:t>
            </a:r>
            <a:r>
              <a:rPr lang="en-US" altLang="zh-CN" dirty="0"/>
              <a:t>Attribute Certificate Table/Certificate Table”</a:t>
            </a:r>
            <a:r>
              <a:rPr lang="zh-CN" altLang="en-US" dirty="0"/>
              <a:t>这种更精确的术语。微软文档现在也常并列说明为“</a:t>
            </a:r>
            <a:r>
              <a:rPr lang="en-US" altLang="zh-CN" dirty="0"/>
              <a:t>Attribute Certificate Table (IMAGE_DIRECTORY_ENTRY_SECURITY)”</a:t>
            </a:r>
            <a:r>
              <a:rPr lang="zh-CN" altLang="en-US" dirty="0"/>
              <a:t>，表明它们是同一个目录项。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此目录项的地址是文件偏移而非 </a:t>
            </a:r>
            <a:r>
              <a:rPr lang="en-US" altLang="zh-CN" dirty="0"/>
              <a:t>RVA</a:t>
            </a:r>
            <a:r>
              <a:rPr lang="zh-CN" altLang="en-US" dirty="0"/>
              <a:t>，且该表不映射进内存。这在“</a:t>
            </a:r>
            <a:r>
              <a:rPr lang="en-US" altLang="zh-CN" dirty="0"/>
              <a:t>Security Directory”</a:t>
            </a:r>
            <a:r>
              <a:rPr lang="zh-CN" altLang="en-US" dirty="0"/>
              <a:t>的历史描述中也被强调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600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624" y="-1866900"/>
            <a:ext cx="11487150" cy="87249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368800" cy="4351338"/>
          </a:xfrm>
        </p:spPr>
        <p:txBody>
          <a:bodyPr>
            <a:normAutofit fontScale="92500" lnSpcReduction="10000"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https://learn.microsoft.com/en-us/windows/win32/debug/pe-format#optional-header-data-directories-image-only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04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15034"/>
            <a:ext cx="8315325" cy="6842966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927600" cy="4351338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PE</a:t>
            </a:r>
            <a:r>
              <a:rPr lang="zh-CN" altLang="zh-CN" dirty="0"/>
              <a:t>文件规范中描述名称为</a:t>
            </a:r>
            <a:r>
              <a:rPr lang="en-US" altLang="zh-CN" dirty="0"/>
              <a:t>Certificate Table</a:t>
            </a:r>
            <a:r>
              <a:rPr lang="zh-CN" altLang="zh-CN" dirty="0"/>
              <a:t>，但是</a:t>
            </a:r>
            <a:r>
              <a:rPr lang="en-US" altLang="zh-CN" dirty="0"/>
              <a:t>Windows </a:t>
            </a:r>
            <a:r>
              <a:rPr lang="zh-CN" altLang="zh-CN" dirty="0"/>
              <a:t>头文件（</a:t>
            </a:r>
            <a:r>
              <a:rPr lang="en-US" altLang="zh-CN" dirty="0" err="1"/>
              <a:t>winnt.h</a:t>
            </a:r>
            <a:r>
              <a:rPr lang="zh-CN" altLang="zh-CN" dirty="0"/>
              <a:t>）在数据目录索引的宏命名上沿用了更早期的</a:t>
            </a:r>
            <a:r>
              <a:rPr lang="en-US" altLang="zh-CN" dirty="0"/>
              <a:t>“Security”</a:t>
            </a:r>
            <a:r>
              <a:rPr lang="zh-CN" altLang="zh-CN" dirty="0"/>
              <a:t>术语，因此微软把该目录项命名为</a:t>
            </a:r>
            <a:r>
              <a:rPr lang="en-US" altLang="zh-CN" dirty="0"/>
              <a:t> IMAGE_DIRECTORY_ENTRY_SECURITY</a:t>
            </a:r>
            <a:r>
              <a:rPr lang="zh-CN" altLang="zh-CN" dirty="0"/>
              <a:t>。也就是</a:t>
            </a:r>
            <a:r>
              <a:rPr lang="en-US" altLang="zh-CN" dirty="0"/>
              <a:t>CFF Explore</a:t>
            </a:r>
            <a:r>
              <a:rPr lang="zh-CN" altLang="zh-CN" dirty="0"/>
              <a:t>等软件会将</a:t>
            </a:r>
            <a:r>
              <a:rPr lang="en-US" altLang="zh-CN" dirty="0"/>
              <a:t>IMAGE_OPTIONAL_HEADER</a:t>
            </a:r>
            <a:r>
              <a:rPr lang="zh-CN" altLang="zh-CN" dirty="0"/>
              <a:t>的</a:t>
            </a:r>
            <a:r>
              <a:rPr lang="en-US" altLang="zh-CN" dirty="0"/>
              <a:t>IMAGE_DATA_DIRECTORY</a:t>
            </a:r>
            <a:r>
              <a:rPr lang="zh-CN" altLang="zh-CN" dirty="0"/>
              <a:t>结构中编号为</a:t>
            </a:r>
            <a:r>
              <a:rPr lang="en-US" altLang="zh-CN" dirty="0"/>
              <a:t>4</a:t>
            </a:r>
            <a:r>
              <a:rPr lang="zh-CN" altLang="zh-CN" dirty="0"/>
              <a:t>的表项，显示为</a:t>
            </a:r>
            <a:r>
              <a:rPr lang="en-US" altLang="zh-CN" dirty="0"/>
              <a:t>Security Directory</a:t>
            </a:r>
            <a:r>
              <a:rPr lang="zh-CN" altLang="zh-CN" dirty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https://learn.microsoft.com/en-us/windows/win32/api/winnt/ns-winnt-image_optional_header32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854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4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IMAGE_SECTION_HEADER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_IMAGE_SECTION_HEADER {</a:t>
            </a:r>
          </a:p>
          <a:p>
            <a:pPr marL="0" indent="0">
              <a:buNone/>
            </a:pPr>
            <a:r>
              <a:rPr lang="en-US" altLang="zh-CN" dirty="0"/>
              <a:t>+	BYTE Name[IMAGE_ SIZEOF_ SHORT_ NAME]; //ASCI</a:t>
            </a:r>
            <a:r>
              <a:rPr lang="zh-CN" altLang="en-US" dirty="0"/>
              <a:t>字符串 可自定义只截取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union {//</a:t>
            </a:r>
            <a:r>
              <a:rPr lang="zh-CN" altLang="en-US" dirty="0"/>
              <a:t>没有对齐前的真实尺寸，即节的真实大小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DWORD </a:t>
            </a:r>
            <a:r>
              <a:rPr lang="en-US" altLang="zh-CN" dirty="0" err="1"/>
              <a:t>PhysicalAddress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DWORD </a:t>
            </a:r>
            <a:r>
              <a:rPr lang="en-US" altLang="zh-CN" dirty="0" err="1"/>
              <a:t>VirtualSize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} </a:t>
            </a:r>
            <a:r>
              <a:rPr lang="en-US" altLang="zh-CN" dirty="0" err="1"/>
              <a:t>Misc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+	DWORD </a:t>
            </a:r>
            <a:r>
              <a:rPr lang="en-US" altLang="zh-CN" dirty="0" err="1"/>
              <a:t>VirtualAddress</a:t>
            </a:r>
            <a:r>
              <a:rPr lang="en-US" altLang="zh-CN" dirty="0"/>
              <a:t>;//</a:t>
            </a:r>
            <a:r>
              <a:rPr lang="zh-CN" altLang="en-US" dirty="0"/>
              <a:t>在内存中的偏移地址</a:t>
            </a:r>
            <a:r>
              <a:rPr lang="en-US" altLang="zh-CN" dirty="0"/>
              <a:t>,</a:t>
            </a:r>
            <a:r>
              <a:rPr lang="zh-CN" altLang="en-US" dirty="0"/>
              <a:t>加上</a:t>
            </a:r>
            <a:r>
              <a:rPr lang="en-US" altLang="zh-CN" dirty="0" err="1"/>
              <a:t>ImageBase</a:t>
            </a:r>
            <a:r>
              <a:rPr lang="zh-CN" altLang="en-US" dirty="0"/>
              <a:t>才是在内存中的真正地址</a:t>
            </a:r>
          </a:p>
          <a:p>
            <a:pPr marL="0" indent="0">
              <a:buNone/>
            </a:pPr>
            <a:r>
              <a:rPr lang="en-US" altLang="zh-CN" dirty="0"/>
              <a:t>+	DWORD </a:t>
            </a:r>
            <a:r>
              <a:rPr lang="en-US" altLang="zh-CN" dirty="0" err="1"/>
              <a:t>SizeOfRawData</a:t>
            </a:r>
            <a:r>
              <a:rPr lang="en-US" altLang="zh-CN" dirty="0"/>
              <a:t>;//</a:t>
            </a:r>
            <a:r>
              <a:rPr lang="zh-CN" altLang="en-US" dirty="0"/>
              <a:t>节在文件中对齐后的尺寸</a:t>
            </a:r>
          </a:p>
          <a:p>
            <a:pPr marL="0" indent="0">
              <a:buNone/>
            </a:pPr>
            <a:r>
              <a:rPr lang="en-US" altLang="zh-CN" dirty="0"/>
              <a:t>+	DWORD </a:t>
            </a:r>
            <a:r>
              <a:rPr lang="en-US" altLang="zh-CN" dirty="0" err="1"/>
              <a:t>PointerToRawData</a:t>
            </a:r>
            <a:r>
              <a:rPr lang="en-US" altLang="zh-CN" dirty="0"/>
              <a:t>;//</a:t>
            </a:r>
            <a:r>
              <a:rPr lang="zh-CN" altLang="en-US" dirty="0"/>
              <a:t>节区在文件中的偏移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DWORD </a:t>
            </a:r>
            <a:r>
              <a:rPr lang="en-US" altLang="zh-CN" dirty="0" err="1"/>
              <a:t>PointerToRelocations</a:t>
            </a:r>
            <a:r>
              <a:rPr lang="en-US" altLang="zh-CN" dirty="0"/>
              <a:t>,//</a:t>
            </a:r>
            <a:r>
              <a:rPr lang="zh-CN" altLang="en-US" dirty="0"/>
              <a:t>调试相关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/>
              <a:t>DWORD </a:t>
            </a:r>
            <a:r>
              <a:rPr lang="en-US" altLang="zh-CN" dirty="0" err="1"/>
              <a:t>PointerTol</a:t>
            </a:r>
            <a:r>
              <a:rPr lang="en-US" altLang="zh-CN" dirty="0"/>
              <a:t> </a:t>
            </a:r>
            <a:r>
              <a:rPr lang="en-US" altLang="zh-CN" dirty="0" err="1"/>
              <a:t>inenumbers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WORD </a:t>
            </a:r>
            <a:r>
              <a:rPr lang="en-US" altLang="zh-CN" dirty="0" err="1"/>
              <a:t>NumberOfRelocations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WORD </a:t>
            </a:r>
            <a:r>
              <a:rPr lang="en-US" altLang="zh-CN" dirty="0" err="1"/>
              <a:t>NumberOflinenumbers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+	DWORD Characteristics;//</a:t>
            </a:r>
            <a:r>
              <a:rPr lang="zh-CN" altLang="en-US" dirty="0"/>
              <a:t>节的属性</a:t>
            </a:r>
          </a:p>
          <a:p>
            <a:pPr marL="0" indent="0">
              <a:buNone/>
            </a:pPr>
            <a:r>
              <a:rPr lang="en-US" altLang="zh-CN" dirty="0"/>
              <a:t>} IMAGE_ SECTION_ _HEADER, *PIMAGE_ _SECTION_ HEADER;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8070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s://i-blog.csdnimg.cn/blog_migrate/57133419c69ad267b91c925873f5066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198" y="257175"/>
            <a:ext cx="6905625" cy="660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30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74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1667</Words>
  <Application>Microsoft Office PowerPoint</Application>
  <PresentationFormat>宽屏</PresentationFormat>
  <Paragraphs>171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等线 Light</vt:lpstr>
      <vt:lpstr>宋体</vt:lpstr>
      <vt:lpstr>Arial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e_lfanew</vt:lpstr>
      <vt:lpstr>IMAGE_NT_HEADERS</vt:lpstr>
      <vt:lpstr>IMAGE_FILE_HEADER 结构</vt:lpstr>
      <vt:lpstr>IMAGE_NT_HEADERS中IMAGE_OPTIONAL_HEADER明明是个固定大小的结构体，为何还需要在IMAGE_FILE_HEADER结构体中使用SizeOfOptionalHeader指定IMAGE_OPTIONAL_HEADER结构的大小</vt:lpstr>
      <vt:lpstr>PowerPoint 演示文稿</vt:lpstr>
      <vt:lpstr>IMAGE_OPTIONAL_HEADER</vt:lpstr>
      <vt:lpstr>IMAGE_OPTIONAL_HEADER.Magic</vt:lpstr>
      <vt:lpstr>PowerPoint 演示文稿</vt:lpstr>
      <vt:lpstr>PowerPoint 演示文稿</vt:lpstr>
      <vt:lpstr>IMAGE_DATA_DIRECTORY Certificate Table or Security Directory</vt:lpstr>
      <vt:lpstr>为什么PE文件结构定义时字段名为 Certificate Table，而winnt.h定义宏变量时却把名称改为IMAGE_DIRECTORY_ENTRY_SECURITY</vt:lpstr>
      <vt:lpstr>PowerPoint 演示文稿</vt:lpstr>
      <vt:lpstr>PowerPoint 演示文稿</vt:lpstr>
      <vt:lpstr>PowerPoint 演示文稿</vt:lpstr>
      <vt:lpstr>IMAGE_SECTION_HEADER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Liangao Zhang</dc:creator>
  <cp:lastModifiedBy>Liangao Zhang</cp:lastModifiedBy>
  <cp:revision>53</cp:revision>
  <dcterms:created xsi:type="dcterms:W3CDTF">2025-09-23T07:31:37Z</dcterms:created>
  <dcterms:modified xsi:type="dcterms:W3CDTF">2025-11-20T03:09:34Z</dcterms:modified>
</cp:coreProperties>
</file>